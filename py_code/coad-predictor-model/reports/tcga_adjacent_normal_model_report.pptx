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8ca9a730274d45" /><Relationship Type="http://schemas.openxmlformats.org/officeDocument/2006/relationships/extended-properties" Target="/docProps/app.xml" Id="R7736f03245954f7e" /><Relationship Type="http://schemas.openxmlformats.org/officeDocument/2006/relationships/officeDocument" Target="/ppt/presentation.xml" Id="Re1a587aabdcb4e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fef21b7354de4"/>
  </p:sldMasterIdLst>
  <p:notesMasterIdLst>
    <p:notesMasterId xmlns:r="http://schemas.openxmlformats.org/officeDocument/2006/relationships" r:id="R6a8e4fc4c3e3454f"/>
  </p:notesMasterIdLst>
  <p:sldIdLst>
    <p:sldId xmlns:r="http://schemas.openxmlformats.org/officeDocument/2006/relationships" id="256" r:id="Raee37c21e9ff41cb"/>
    <p:sldId xmlns:r="http://schemas.openxmlformats.org/officeDocument/2006/relationships" id="257" r:id="R68048aae2a514983"/>
    <p:sldId xmlns:r="http://schemas.openxmlformats.org/officeDocument/2006/relationships" id="258" r:id="R5a92402d77fe4163"/>
    <p:sldId xmlns:r="http://schemas.openxmlformats.org/officeDocument/2006/relationships" id="259" r:id="Rf8c312f429c5471f"/>
    <p:sldId xmlns:r="http://schemas.openxmlformats.org/officeDocument/2006/relationships" id="260" r:id="R627b028d93294653"/>
    <p:sldId xmlns:r="http://schemas.openxmlformats.org/officeDocument/2006/relationships" id="261" r:id="R6260aaf1d4904282"/>
    <p:sldId xmlns:r="http://schemas.openxmlformats.org/officeDocument/2006/relationships" id="262" r:id="R7ec9d508b92041e7"/>
    <p:sldId xmlns:r="http://schemas.openxmlformats.org/officeDocument/2006/relationships" id="263" r:id="R48542b9c3748458a"/>
    <p:sldId xmlns:r="http://schemas.openxmlformats.org/officeDocument/2006/relationships" id="264" r:id="Rdde96cbc4af541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530a53ed5e4eb4" /><Relationship Type="http://schemas.openxmlformats.org/officeDocument/2006/relationships/slideMaster" Target="/ppt/slideMasters/slideMaster1.xml" Id="R00efef21b7354de4" /><Relationship Type="http://schemas.openxmlformats.org/officeDocument/2006/relationships/notesMaster" Target="/ppt/notesMasters/notesMaster1.xml" Id="R6a8e4fc4c3e3454f" /><Relationship Type="http://schemas.openxmlformats.org/officeDocument/2006/relationships/presProps" Target="/ppt/presProps.xml" Id="R0dfc3e4ed95f4df1" /><Relationship Type="http://schemas.openxmlformats.org/officeDocument/2006/relationships/tableStyles" Target="/ppt/tableStyles.xml" Id="R3e0543d906e844c2" /><Relationship Type="http://schemas.openxmlformats.org/officeDocument/2006/relationships/slide" Target="/ppt/slides/slide1.xml" Id="Raee37c21e9ff41cb" /><Relationship Type="http://schemas.openxmlformats.org/officeDocument/2006/relationships/slide" Target="/ppt/slides/slide2.xml" Id="R68048aae2a514983" /><Relationship Type="http://schemas.openxmlformats.org/officeDocument/2006/relationships/slide" Target="/ppt/slides/slide3.xml" Id="R5a92402d77fe4163" /><Relationship Type="http://schemas.openxmlformats.org/officeDocument/2006/relationships/slide" Target="/ppt/slides/slide4.xml" Id="Rf8c312f429c5471f" /><Relationship Type="http://schemas.openxmlformats.org/officeDocument/2006/relationships/slide" Target="/ppt/slides/slide5.xml" Id="R627b028d93294653" /><Relationship Type="http://schemas.openxmlformats.org/officeDocument/2006/relationships/slide" Target="/ppt/slides/slide6.xml" Id="R6260aaf1d4904282" /><Relationship Type="http://schemas.openxmlformats.org/officeDocument/2006/relationships/slide" Target="/ppt/slides/slide7.xml" Id="R7ec9d508b92041e7" /><Relationship Type="http://schemas.openxmlformats.org/officeDocument/2006/relationships/slide" Target="/ppt/slides/slide8.xml" Id="R48542b9c3748458a" /><Relationship Type="http://schemas.openxmlformats.org/officeDocument/2006/relationships/slide" Target="/ppt/slides/slide9.xml" Id="Rdde96cbc4af541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9a9cbdf6746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b3d3b7a5ed47a2" /><Relationship Type="http://schemas.openxmlformats.org/officeDocument/2006/relationships/notesMaster" Target="/ppt/notesMasters/notesMaster1.xml" Id="R9c1a25b5f3f0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7fa275fb8f472f" /><Relationship Type="http://schemas.openxmlformats.org/officeDocument/2006/relationships/notesMaster" Target="/ppt/notesMasters/notesMaster1.xml" Id="Rf89cf03f2fd44a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06f5834b36473f" /><Relationship Type="http://schemas.openxmlformats.org/officeDocument/2006/relationships/notesMaster" Target="/ppt/notesMasters/notesMaster1.xml" Id="Rcf96a612697e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d71bc3a5074462" /><Relationship Type="http://schemas.openxmlformats.org/officeDocument/2006/relationships/notesMaster" Target="/ppt/notesMasters/notesMaster1.xml" Id="R8c06f5f1695843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185b6e6564fef" /><Relationship Type="http://schemas.openxmlformats.org/officeDocument/2006/relationships/notesMaster" Target="/ppt/notesMasters/notesMaster1.xml" Id="R9b84490ca96241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87aaa9d6cf4f25" /><Relationship Type="http://schemas.openxmlformats.org/officeDocument/2006/relationships/notesMaster" Target="/ppt/notesMasters/notesMaster1.xml" Id="R4739ac975850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47c8a7369d4997" /><Relationship Type="http://schemas.openxmlformats.org/officeDocument/2006/relationships/notesMaster" Target="/ppt/notesMasters/notesMaster1.xml" Id="Rd72e6323217c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a86a66d0934b12" /><Relationship Type="http://schemas.openxmlformats.org/officeDocument/2006/relationships/notesMaster" Target="/ppt/notesMasters/notesMaster1.xml" Id="R6c69787714474a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caca0893b546e2" /><Relationship Type="http://schemas.openxmlformats.org/officeDocument/2006/relationships/notesMaster" Target="/ppt/notesMasters/notesMaster1.xml" Id="R730725256b2740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cad7062dd43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48b51f5c0e4813" /><Relationship Type="http://schemas.openxmlformats.org/officeDocument/2006/relationships/slideLayout" Target="/ppt/slideLayouts/slideLayout1.xml" Id="R6e94c95e3a67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94c95e3a67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c7318af2a45ef" /><Relationship Type="http://schemas.openxmlformats.org/officeDocument/2006/relationships/notesSlide" Target="/ppt/notesSlides/notesSlide1.xml" Id="Ra7fa619670b742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67fdd91b2474e" /><Relationship Type="http://schemas.openxmlformats.org/officeDocument/2006/relationships/notesSlide" Target="/ppt/notesSlides/notesSlide2.xml" Id="Reb04ca3e20894f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9585238144b12" /><Relationship Type="http://schemas.openxmlformats.org/officeDocument/2006/relationships/notesSlide" Target="/ppt/notesSlides/notesSlide3.xml" Id="R6fc24dab3abe4d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1a730e92f46a2" /><Relationship Type="http://schemas.openxmlformats.org/officeDocument/2006/relationships/notesSlide" Target="/ppt/notesSlides/notesSlide4.xml" Id="R343ffa7356f6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cce0144a8488f" /><Relationship Type="http://schemas.openxmlformats.org/officeDocument/2006/relationships/chart" Target="/ppt/slides/charts/chart1.xml" Id="Rd5e606207e6f41c5" /><Relationship Type="http://schemas.openxmlformats.org/officeDocument/2006/relationships/notesSlide" Target="/ppt/notesSlides/notesSlide5.xml" Id="R008aac704f144e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9afbf03034707" /><Relationship Type="http://schemas.openxmlformats.org/officeDocument/2006/relationships/image" Target="/ppt/media/image.png" Id="Rc9ee3706515d4c95" /><Relationship Type="http://schemas.openxmlformats.org/officeDocument/2006/relationships/notesSlide" Target="/ppt/notesSlides/notesSlide6.xml" Id="Rfd9917c8ac5d4c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86122a846445d" /><Relationship Type="http://schemas.openxmlformats.org/officeDocument/2006/relationships/image" Target="/ppt/media/image2.png" Id="R40e169a88e504ce8" /><Relationship Type="http://schemas.openxmlformats.org/officeDocument/2006/relationships/notesSlide" Target="/ppt/notesSlides/notesSlide7.xml" Id="Rf8044a88efa94f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7c627bce94cf5" /><Relationship Type="http://schemas.openxmlformats.org/officeDocument/2006/relationships/image" Target="/ppt/media/image3.png" Id="R1e95179d9f72485c" /><Relationship Type="http://schemas.openxmlformats.org/officeDocument/2006/relationships/notesSlide" Target="/ppt/notesSlides/notesSlide8.xml" Id="R4633fdb6c69346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87fd91d2b4f2d" /><Relationship Type="http://schemas.openxmlformats.org/officeDocument/2006/relationships/notesSlide" Target="/ppt/notesSlides/notesSlide9.xml" Id="R287709dc341c497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Logistic Regression</c:v>
          </c:tx>
          <c:spPr>
            <a:solidFill xmlns:a="http://schemas.openxmlformats.org/drawingml/2006/main">
              <a:srgbClr val="4C78A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Accuracy</c:v>
              </c:pt>
              <c:pt idx="1">
                <c:v>Balanced</c:v>
              </c:pt>
              <c:pt idx="2">
                <c:v>Normal precision</c:v>
              </c:pt>
              <c:pt idx="3">
                <c:v>Normal recall</c:v>
              </c:pt>
              <c:pt idx="4">
                <c:v>Tumor recall</c:v>
              </c:pt>
            </c:strLit>
          </c:cat>
          <c:val>
            <c:numLit>
              <c:formatCode>0.0</c:formatCode>
              <c:ptCount val="5"/>
              <c:pt idx="0">
                <c:v>0.9417</c:v>
              </c:pt>
              <c:pt idx="1">
                <c:v>0.9684</c:v>
              </c:pt>
              <c:pt idx="2">
                <c:v>0.5714</c:v>
              </c:pt>
              <c:pt idx="3">
                <c:v>1</c:v>
              </c:pt>
              <c:pt idx="4">
                <c:v>0.9368</c:v>
              </c:pt>
            </c:numLit>
          </c:val>
        </c:ser>
        <c:ser>
          <c:idx val="1"/>
          <c:order val="1"/>
          <c:tx>
            <c:v>Random Forest</c:v>
          </c:tx>
          <c:spPr>
            <a:solidFill xmlns:a="http://schemas.openxmlformats.org/drawingml/2006/main">
              <a:srgbClr val="2A9D8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Accuracy</c:v>
              </c:pt>
              <c:pt idx="1">
                <c:v>Balanced</c:v>
              </c:pt>
              <c:pt idx="2">
                <c:v>Normal precision</c:v>
              </c:pt>
              <c:pt idx="3">
                <c:v>Normal recall</c:v>
              </c:pt>
              <c:pt idx="4">
                <c:v>Tumor recall</c:v>
              </c:pt>
            </c:strLit>
          </c:cat>
          <c:val>
            <c:numLit>
              <c:formatCode>0.0</c:formatCode>
              <c:ptCount val="5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val>
        </c:ser>
        <c:ser>
          <c:idx val="2"/>
          <c:order val="2"/>
          <c:tx>
            <c:v>Linear SVM</c:v>
          </c:tx>
          <c:spPr>
            <a:solidFill xmlns:a="http://schemas.openxmlformats.org/drawingml/2006/main">
              <a:srgbClr val="E56B5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Accuracy</c:v>
              </c:pt>
              <c:pt idx="1">
                <c:v>Balanced</c:v>
              </c:pt>
              <c:pt idx="2">
                <c:v>Normal precision</c:v>
              </c:pt>
              <c:pt idx="3">
                <c:v>Normal recall</c:v>
              </c:pt>
              <c:pt idx="4">
                <c:v>Tumor recall</c:v>
              </c:pt>
            </c:strLit>
          </c:cat>
          <c:val>
            <c:numLit>
              <c:formatCode>0.0</c:formatCode>
              <c:ptCount val="5"/>
              <c:pt idx="0">
                <c:v>0.9417</c:v>
              </c:pt>
              <c:pt idx="1">
                <c:v>0.9684</c:v>
              </c:pt>
              <c:pt idx="2">
                <c:v>0.5714</c:v>
              </c:pt>
              <c:pt idx="3">
                <c:v>1</c:v>
              </c:pt>
              <c:pt idx="4">
                <c:v>0.9368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3E1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4560DC-7478-4024-9985-4499C952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AA4C0-D3FC-458C-BD8A-F7DC806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TCGA COAD | Adjacent Normal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E56BA-DC42-46A9-AD6C-153FDD2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癌旁正常样本模型报告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0B84F-8C8E-4EC1-9FA5-363327FB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647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RNA 表达可以强地区分 COAD 肿瘤与癌旁正常组织；但 normal 只有 41 个样本，结论应定位为科研探索，而非临床诊断。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81F43-CA4E-470B-ACF5-0914C23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0015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EFA4C-4564-4634-8C92-31085DD2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716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rPr>
              <a:t>471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F6551-F165-4D9D-9DA4-80A5996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Tumor 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DA828-8334-49EF-BBA3-8AAD6454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14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Primary Tumor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B00D4-8BB2-409F-AC8A-8A022F38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0015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6904E-3C4C-425A-9D1B-98FBBF7E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716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F7601-1692-4636-BF0E-5815BBC9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Normal 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24B42-9BB3-44C3-B5F0-820D25C2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14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Solid Tissue Normal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1EAEE-FF41-48D9-8A61-F6AF8D6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3848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5A099-79AE-42C2-8860-6AC9D83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rPr>
              <a:t>19,486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60947-5EE4-4DD0-BC39-6827B47E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Model genes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24FC0-75F4-43D0-A71E-367A7CA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242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after filtering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BF6AA-69BA-4E94-9CFD-C76D43D8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3848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A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DB75C-59D6-46B8-AD9C-DA789905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7D809-E489-4915-8B8F-4E50EC5E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模型表现很强；最诚实的解读是“强信号 + 明确限制”。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13415-B819-42E3-ABDB-857D208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572E0-6A01-49E5-B257-FB803777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460F9-1F36-4676-8C3D-8AA1CDB1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354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18F3D-6043-4EEE-968F-BAE81720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21BD1-E99A-44D1-890F-8177632A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用同一 TCGA 数据源测试 tumor vs adjacent normal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FABA9-C21F-41CF-9A9B-2F5ED81D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避免把 TCGA tumor 与 GTEx normal 混在一起造成来源/队列效应。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9D0BC-D457-4302-BD3B-B6A95F0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857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13EB4-560B-4B95-9C80-0358183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为什么这份报告更有解释价值？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8EFE0-0795-4196-9F16-19E27D71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- tumor 与 normal 都来自 TCGA COAD STAR counts</a:t>
            </a:r>
          </a:p>
          <a:p xmlns:a="http://schemas.openxmlformats.org/drawingml/2006/main">
            <a:pPr algn="l">
              <a:defRPr sz="1350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- 比较的是原发肿瘤与癌旁正常组织</a:t>
            </a:r>
          </a:p>
          <a:p xmlns:a="http://schemas.openxmlformats.org/drawingml/2006/main">
            <a:pPr algn="l">
              <a:defRPr sz="1350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- 目标是发现 RNA expression 的分类信号</a:t>
            </a:r>
          </a:p>
          <a:p xmlns:a="http://schemas.openxmlformats.org/drawingml/2006/main">
            <a:pPr algn="l">
              <a:defRPr sz="1350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- 用途是研究学习，不用于患者诊断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6F385-1858-49E0-96E6-37F964A0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857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ABA1F-1925-49E5-9F2A-23CD0E6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Plain-language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45392-43DA-4C7E-B4BA-4B69953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Test whether gene activity patterns can separate colon cancer tumor tissue from nearby tissue labeled as normal.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38BD5-8ED6-4D72-BD0F-32BDE7BB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56B5D"/>
                </a:solidFill>
                <a:latin typeface="Aptos"/>
                <a:ea typeface="Aptos"/>
                <a:cs typeface="Aptos"/>
              </a:rPr>
              <a:t>关键不是“模型多完美”，而是“信号有多强、限制在哪里”。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E6BE4-F974-4440-B98F-0B265E7B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61C0D-8374-44BA-B4E0-0890626E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3AF56-57F7-48D0-9F46-32EF031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7672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5AAFC-6858-4A9E-A70D-2A53AFF9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数据集与划分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65CA6-87B1-479F-9A32-EE631696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normal 样本少，是本报告最重要的统计限制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9144D-A7D0-42F8-8272-376E4F8A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测试集中只有 8 个 normal；normal 相关指标会对个别样本非常敏感。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DAA26-89C0-4773-BD45-8D26E45F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AD287-1DC6-4EE1-8FEC-4AAFA22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rPr>
              <a:t>471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AEFC4-7412-48E4-8EF5-6BFE690A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Tumor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F95F9-F268-4DF0-9B39-5C1726CE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source: Primary Tumor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43366-38B1-4863-8DC6-CDC7B6F7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43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3455F-0F3C-4AF6-B326-C6F75CD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ABDFA-AF37-40D1-B4D8-49A2EFC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Adjacent 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930E6-D59A-43B0-BDAD-8A1494FF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source: Solid Tissue Normal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FF270-D393-4603-9DFC-2449D5D5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43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15F27-B4F4-4906-925E-412FF71D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14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rPr>
              <a:t>19,938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7B4E6-E490-4D5C-A6FB-554FB56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Shared genes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B0B41-4A47-4969-8C35-92B47BF5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protein-coding before filtering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85A22-D41F-4BEA-9D85-3F5207C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381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6758C-82EB-4A5F-ACB7-C783103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A4B50"/>
                </a:solidFill>
                <a:latin typeface="Aptos Display"/>
                <a:ea typeface="Aptos Display"/>
                <a:cs typeface="Aptos Display"/>
              </a:rPr>
              <a:t>19,486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9483B-B391-4AC5-B128-A8264DA0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Model genes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EBD38-BA75-45E8-8939-54198DC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after filtering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3915E-0195-4907-A8F7-C048A6D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63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C5D63-C59C-4542-ABA9-A9AED63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Train/Test split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B1833-FE24-403F-8F2D-10669734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train normal 33 | train tumor 376 | test normal 8 | test tumor 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E3F6E1-BDA0-42C5-882E-3E3992E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划分按 label 分层，并按 case_submitter_id 分组，减少同一病例泄漏到 train/test 两边的风险。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54011-6EAA-4A31-BB32-B2A6B63F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F09B3-733D-4BDF-A58D-5F8D410E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C87E1-18A6-4AC6-9758-B552319A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260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B2850-380C-45B7-AE79-7138EE7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建模流程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B53D1-C6E4-44D0-8A04-B8B37AEB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从 TCGA STAR counts 到可解释的分类评估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93846-6CD4-410B-AD77-F298360C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流程保守：先控制数据来源，再用多模型和多指标检查信号是否稳定。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79BEF-424F-47F2-A7C1-EE55E9C0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CA6A9-29AB-417F-A3AF-75DAF5E4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TCGA COAD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0FC02-A32D-48C6-B402-BCB375DF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Primary Tumor</a:t>
            </a:r>
          </a:p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Solid Tissue Normal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3E53C-1665-4191-8484-E73855C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56B5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14E8A-A2BA-4F75-BC7A-721893F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EDB55-8988-4146-AB89-3944B8E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RNA 表达矩阵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4530C-AA80-4CD0-AF7C-5DDA303D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099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STAR counts / TPM</a:t>
            </a:r>
          </a:p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19,938 shared genes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155F0-6146-45BD-B3E8-794BEF8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56B5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71A73-7702-41EC-9110-00329408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C85F0-3183-4FBB-B6F5-2624C50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分层 + case 分组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D76BF-E3F9-4608-9E4F-CDA161D7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Train 409</a:t>
            </a:r>
          </a:p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Test 103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055E1-2418-4B28-9FCB-CB71994F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718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56B5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80CE6-4DEE-4EBF-A5F2-81B4FAD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0D370-7648-4271-BCD0-C32B27C4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三类模型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18370-9E27-4CA0-8560-B88F58D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Logistic Regression</a:t>
            </a:r>
          </a:p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Random Forest</a:t>
            </a:r>
          </a:p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Linear SVM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72A6F-1ECA-46BF-AC40-CED1BD40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56B5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79DD0-ED8F-407F-BB9D-361A3E6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1866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9CED6-BC57-488D-9614-A7FE9B95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稳健解读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9078C-D3ED-43F1-B909-82EC4B83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099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Balanced accuracy</a:t>
            </a:r>
          </a:p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Normal recall</a:t>
            </a:r>
          </a:p>
          <a:p xmlns:a="http://schemas.openxmlformats.org/drawingml/2006/main">
            <a:pPr algn="l">
              <a:defRPr sz="10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D5B6B-424A-43B9-9D4C-BA7F1C3C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9886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A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90A08-E6B5-4AD3-804D-CAED7C22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评估重点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A4284-92F6-4E89-809E-354AC14B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054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类别不平衡时，不只看 accuracy；要同时看 balanced_accuracy、normal_recall 和 confusion matrix。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568B2-FAA2-4E82-81FA-7F49B4D3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FEFD6-C612-4DF5-8F72-41F905E5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54861-8004-43DB-82BB-831E9BAE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2997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10898-3E00-48ED-9A8C-77BDF034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模型指标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34D68-A0D0-47B4-997B-07295F3E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Random Forest 在本次测试划分上满分，但需谨慎解读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29949-6BA2-40F4-8544-3B58E7B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Logistic Regression 与 Linear SVM 找回全部 normal，但把 6 个 tumor 错判为 normal。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ED822-E3AB-466C-A9FF-326339B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971550" y="2438400"/>
          <a:ext xmlns:a="http://schemas.openxmlformats.org/drawingml/2006/main" cx="666750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e606207e6f41c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BDAE8-859B-4EB1-82FC-F24F89A2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647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A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CF4BC-A69B-4F7D-85E8-D3095E7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3ECBE-1237-4B2A-A009-C3E09959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Random Forest listed metrics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this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76167-3FA4-4C75-8C3F-97A37B5A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2647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C4ACE-5663-4C32-B54C-8520D4A5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3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56B5D"/>
                </a:solidFill>
                <a:latin typeface="Aptos"/>
                <a:ea typeface="Aptos"/>
                <a:cs typeface="Aptos"/>
              </a:rPr>
              <a:t>不要过度解读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EA905-242E-457A-9405-7E291E0A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14850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normal test set 只有 8 个样本；一两个错误会明显改变 normal precision / recall。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66459-7DCD-40BE-95AE-861E436A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DC932-CD49-48F3-9CA3-7EA1B749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1B760-7B17-4E13-8F61-6C6189F2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08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7590C-8095-48A3-A0F5-16B49EDD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混淆矩阵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0BB7B-BF55-4B9A-A7FF-476C917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错误主要体现为 tumor 被错判为 normal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00933-C12A-4DB2-A9D1-E464641B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这比只看 overall accuracy 更能说明模型在少数类 normal 上的行为。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e3706515d4c95"/>
          <a:stretch xmlns:a="http://schemas.openxmlformats.org/drawingml/2006/main"/>
        </p:blipFill>
        <p:spPr>
          <a:xfrm xmlns:a="http://schemas.openxmlformats.org/drawingml/2006/main">
            <a:off x="628650" y="2600960"/>
            <a:ext cx="7239000" cy="243713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1BDE3-AD5D-482C-ABE6-CABE0725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724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FEF0E-3C98-4673-B23C-9CDCE883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Logistic / SVM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A558F-E059-4B88-B42D-C314B52F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missed normal: 0</a:t>
            </a:r>
          </a:p>
          <a:p xmlns:a="http://schemas.openxmlformats.org/drawingml/2006/main">
            <a:pPr algn="l">
              <a:defRPr sz="12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false normal calls: 6 tumor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39A95-DEF5-4102-BCC7-22EE636D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71900"/>
            <a:ext cx="2724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F4F3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6298C-18DE-4C77-9DEF-A90BB223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07EDF-3EB8-4F9F-8596-529BD298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0 errors on this held-out split</a:t>
            </a:r>
          </a:p>
          <a:p xmlns:a="http://schemas.openxmlformats.org/drawingml/2006/main">
            <a:pPr algn="l">
              <a:defRPr sz="12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but only 8 normal in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CFEED-57D4-4B46-A43D-2345AD3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0A39C-06D7-4ACE-95CF-301B0BBF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3951E-7915-4698-80D6-A749937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6711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B2FC1-51EF-4FF3-810A-A4A1992B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ROC 与 PR 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C4464-C2B9-40F9-9CE8-F782BD5F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曲线接近满分，说明排序信号很强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F5CE-6BF3-4AC8-B734-FB60484B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PR-AUC 在少数类场景下尤其重要，但仍受 normal 样本量限制。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169a88e504ce8"/>
          <a:stretch xmlns:a="http://schemas.openxmlformats.org/drawingml/2006/main"/>
        </p:blipFill>
        <p:spPr>
          <a:xfrm xmlns:a="http://schemas.openxmlformats.org/drawingml/2006/main">
            <a:off x="704850" y="2347341"/>
            <a:ext cx="7429500" cy="300151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94D9C-0CCB-4971-86D4-D0307903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2457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A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58C5D-460D-4B9B-A773-243C2CF3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ROC-AUC / PR-AUC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78CBB-909F-44AB-ABC2-A0550BA8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reported as 1.0</a:t>
            </a:r>
          </a:p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all three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13B48-CDA4-49A5-9503-BCC937D8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7665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E07CD-B52C-42DF-A1F0-247DC4A7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24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解释方式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03218-C404-4668-A51A-BF8E41C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24350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曲线验证了区分信号，但不能替代外部队列验证。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16A62-618E-49D0-A69C-2B6825DD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267F5-47E4-404A-A873-0AC7420F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5985D-2114-4C0D-8E08-9DF9AEE0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55583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8F309-66B9-48A8-BAC9-34F6AEC1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重要基因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6613A-E90B-4173-B697-80ECA8CD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这些是预测特征，不是已证明的因果基因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98D83-7D7A-4CA6-8603-28F73903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higher_tumor_score / higher_normal_score 反映模型方向；tree_importance 反映随机森林贡献。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5179d9f72485c"/>
          <a:stretch xmlns:a="http://schemas.openxmlformats.org/drawingml/2006/main"/>
        </p:blipFill>
        <p:spPr>
          <a:xfrm xmlns:a="http://schemas.openxmlformats.org/drawingml/2006/main">
            <a:off x="1838603" y="2114550"/>
            <a:ext cx="4152343" cy="3219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3871B-0439-4B2F-BCD5-6C289F7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34671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989DC-9B62-46CC-AD31-04C756AB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4B5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A4B50"/>
                </a:solidFill>
                <a:latin typeface="Aptos"/>
                <a:ea typeface="Aptos"/>
                <a:cs typeface="Aptos"/>
              </a:rPr>
              <a:t>Top features 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70A41-CC6B-4D81-A9DD-754E71F0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857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LR normal  |  OTOP3  |  -0.0776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LR normal  |  DHRS7C  |  -0.0767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LR tumor  |  PRL  |  0.0707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LR normal  |  DAO  |  -0.0680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LR normal  |  MMP27  |  -0.0679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RF  |  LGI1  |  0.0236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RF  |  PPM1H  |  0.0233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RF  |  HPSE2  |  0.0143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RF  |  IL6R  |  0.0141</a:t>
            </a:r>
          </a:p>
          <a:p xmlns:a="http://schemas.openxmlformats.org/drawingml/2006/main">
            <a:pPr algn="l">
              <a:defRPr sz="975" b="0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RF  |  DDX56  |  0.0134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394D4-1366-4420-8163-F5B7C74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56B5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56B5D"/>
                </a:solidFill>
                <a:latin typeface="Aptos"/>
                <a:ea typeface="Aptos"/>
                <a:cs typeface="Aptos"/>
              </a:rPr>
              <a:t>下一步应做通路富集、外部队列复现和生物学文献核对。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89208-0CDE-4B4E-81D1-B8AFDF94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204DF-703F-42C6-A955-800E739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F06EB-1E9F-4744-8E70-31D41013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08448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D04D9-720F-4D5A-B9BC-76AB48A2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E6B7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E6B70"/>
                </a:solidFill>
                <a:latin typeface="Aptos"/>
                <a:ea typeface="Aptos"/>
                <a:cs typeface="Aptos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7BA93-D262-48C7-898F-DD857E57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63235"/>
                </a:solidFill>
                <a:latin typeface="Aptos Display"/>
                <a:ea typeface="Aptos Display"/>
                <a:cs typeface="Aptos Display"/>
              </a:rPr>
              <a:t>模型看起来很强，但还没有到临床使用级别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1637F-97DB-49E9-AED2-74594B16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最稳妥的定位：科研探索价值明确，临床使用仍需外部验证和更均衡样本。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F34B1-00E7-48E7-BEFF-42C1B84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A25A3-9856-4B2A-BC54-6F4418E1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1256-43D7-489B-A7E4-5F368B4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可以相信什么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2BEE2-F2D6-43EF-B5FE-C70F80E2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514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TCGA-only 设计减少了跨来源偏差</a:t>
            </a:r>
          </a:p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多模型都显示强表达信号</a:t>
            </a:r>
          </a:p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normal recall 在本次测试中为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AC45E-A36B-479F-9F7E-872FC35B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3143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6AE48-E622-4790-9BEF-02C3A190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AA68D-1D86-429E-A1D1-0DC8A6F3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必须保留什么限制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CB1D0-3E8A-4BEC-9F55-98AB8462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2514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normal 总样本只有 41</a:t>
            </a:r>
          </a:p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测试集 normal 只有 8</a:t>
            </a:r>
          </a:p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随机森林满分不能等同临床完美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4CC6D-12C4-476E-8506-4121FB38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143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0069F-1C67-4A02-92EA-2EAA4EC8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9383E-46B9-4EB7-ACD0-3F1E384C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23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3235"/>
                </a:solidFill>
                <a:latin typeface="Aptos"/>
                <a:ea typeface="Aptos"/>
                <a:cs typeface="Aptos"/>
              </a:rPr>
              <a:t>建议下一步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48BBB-9DA8-4F5E-8CB4-F1C03FCD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2514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做外部队列验证</a:t>
            </a:r>
          </a:p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重复交叉验证/重采样稳定性</a:t>
            </a:r>
          </a:p>
          <a:p xmlns:a="http://schemas.openxmlformats.org/drawingml/2006/main">
            <a:pPr algn="l">
              <a:defRPr sz="13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- 对重要基因做通路与文献验证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E47E4-D74B-465E-B7C2-5294FD7A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3060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A4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B7328-2506-485C-8332-E2A1F3AF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最终表述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98E63-160D-4B40-8C34-01536007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不是“模型完美”，而是“模型信号很强，而且我们清楚它的限制”。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F6DEC-B727-4C8E-B45B-418F911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2C7BB-8236-4F34-864E-4DC896A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TCGA COAD adjacent-normal model report | research use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2B4F2-5814-49B7-B9E0-D8228CCC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B6B6E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5B6B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9439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2026-06-19T13:41:56.7190000Z</dcterms:created>
  <dcterms:modified xsi:type="dcterms:W3CDTF">2026-06-19T13:41:56.7190000Z</dcterms:modified>
</coreProperties>
</file>